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7" r:id="rId2"/>
    <p:sldId id="317" r:id="rId3"/>
    <p:sldId id="326" r:id="rId4"/>
    <p:sldId id="325" r:id="rId5"/>
    <p:sldId id="321" r:id="rId6"/>
    <p:sldId id="322" r:id="rId7"/>
    <p:sldId id="323" r:id="rId8"/>
    <p:sldId id="324" r:id="rId9"/>
    <p:sldId id="31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5212" autoAdjust="0"/>
  </p:normalViewPr>
  <p:slideViewPr>
    <p:cSldViewPr snapToGrid="0" snapToObjects="1">
      <p:cViewPr varScale="1">
        <p:scale>
          <a:sx n="76" d="100"/>
          <a:sy n="76" d="100"/>
        </p:scale>
        <p:origin x="16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79514-A36F-447D-ADF2-B53FC951891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73313-C1C5-44DD-941F-C3F7BD83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Buongiorno, </a:t>
            </a:r>
          </a:p>
          <a:p>
            <a:r>
              <a:rPr lang="en-US" dirty="0" err="1"/>
              <a:t>presento</a:t>
            </a:r>
            <a:r>
              <a:rPr lang="en-US" dirty="0"/>
              <a:t> il </a:t>
            </a:r>
            <a:r>
              <a:rPr lang="en-US" dirty="0" err="1"/>
              <a:t>riassunto</a:t>
            </a:r>
            <a:r>
              <a:rPr lang="en-US" dirty="0"/>
              <a:t> </a:t>
            </a:r>
            <a:r>
              <a:rPr lang="en-US" dirty="0" err="1"/>
              <a:t>dell'articolo</a:t>
            </a:r>
            <a:r>
              <a:rPr lang="en-US" dirty="0"/>
              <a:t> 'Explaining Genetic Programming Trees using Large Language Models' di Maddigan, </a:t>
            </a:r>
            <a:r>
              <a:rPr lang="en-US" dirty="0" err="1"/>
              <a:t>Lensen</a:t>
            </a:r>
            <a:r>
              <a:rPr lang="en-US" dirty="0"/>
              <a:t> e Xue, </a:t>
            </a:r>
            <a:r>
              <a:rPr lang="en-US" dirty="0" err="1"/>
              <a:t>pubblicato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2024. </a:t>
            </a:r>
          </a:p>
          <a:p>
            <a:r>
              <a:rPr lang="en-US" dirty="0" err="1"/>
              <a:t>L'articolo</a:t>
            </a:r>
            <a:r>
              <a:rPr lang="en-US" dirty="0"/>
              <a:t> </a:t>
            </a:r>
            <a:r>
              <a:rPr lang="en-US" dirty="0" err="1"/>
              <a:t>affronta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 di explainable AI: </a:t>
            </a:r>
          </a:p>
          <a:p>
            <a:r>
              <a:rPr lang="en-US" dirty="0" err="1"/>
              <a:t>rendere</a:t>
            </a:r>
            <a:r>
              <a:rPr lang="en-US" dirty="0"/>
              <a:t> </a:t>
            </a:r>
            <a:r>
              <a:rPr lang="en-US" dirty="0" err="1"/>
              <a:t>comprensibili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risultati</a:t>
            </a:r>
            <a:r>
              <a:rPr lang="en-US" dirty="0"/>
              <a:t> della Genetic Programming </a:t>
            </a:r>
            <a:r>
              <a:rPr lang="en-US" dirty="0" err="1"/>
              <a:t>attraverso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Large Language Model, come ChatGPT.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73313-C1C5-44DD-941F-C3F7BD831B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92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Partiamo</a:t>
            </a:r>
            <a:r>
              <a:rPr lang="en-US" dirty="0"/>
              <a:t> dal </a:t>
            </a:r>
            <a:r>
              <a:rPr lang="en-US" dirty="0" err="1"/>
              <a:t>contesto</a:t>
            </a:r>
            <a:r>
              <a:rPr lang="en-US" dirty="0"/>
              <a:t> </a:t>
            </a:r>
            <a:r>
              <a:rPr lang="en-US" dirty="0" err="1"/>
              <a:t>tecnico</a:t>
            </a:r>
            <a:r>
              <a:rPr lang="en-US" dirty="0"/>
              <a:t>. </a:t>
            </a:r>
          </a:p>
          <a:p>
            <a:r>
              <a:rPr lang="en-US" dirty="0"/>
              <a:t>Il GP-NLDR è un </a:t>
            </a:r>
            <a:r>
              <a:rPr lang="en-US" dirty="0" err="1"/>
              <a:t>processo</a:t>
            </a:r>
            <a:r>
              <a:rPr lang="en-US" dirty="0"/>
              <a:t> di </a:t>
            </a:r>
            <a:r>
              <a:rPr lang="en-US" dirty="0" err="1"/>
              <a:t>riduzione</a:t>
            </a:r>
            <a:r>
              <a:rPr lang="en-US" dirty="0"/>
              <a:t> della </a:t>
            </a:r>
            <a:r>
              <a:rPr lang="en-US" dirty="0" err="1"/>
              <a:t>dimensionalità</a:t>
            </a:r>
            <a:r>
              <a:rPr lang="en-US" dirty="0"/>
              <a:t>: </a:t>
            </a:r>
            <a:r>
              <a:rPr lang="en-US" dirty="0" err="1"/>
              <a:t>prende</a:t>
            </a:r>
            <a:r>
              <a:rPr lang="en-US" dirty="0"/>
              <a:t> un dataset con </a:t>
            </a:r>
            <a:r>
              <a:rPr lang="en-US" dirty="0" err="1"/>
              <a:t>molte</a:t>
            </a:r>
            <a:r>
              <a:rPr lang="en-US" dirty="0"/>
              <a:t> feature e ne produce uno </a:t>
            </a:r>
            <a:r>
              <a:rPr lang="en-US" dirty="0" err="1"/>
              <a:t>più</a:t>
            </a:r>
            <a:r>
              <a:rPr lang="en-US" dirty="0"/>
              <a:t> piccolo, </a:t>
            </a:r>
            <a:r>
              <a:rPr lang="en-US" dirty="0" err="1"/>
              <a:t>componendo</a:t>
            </a:r>
            <a:r>
              <a:rPr lang="en-US" dirty="0"/>
              <a:t> </a:t>
            </a:r>
            <a:r>
              <a:rPr lang="en-US" dirty="0" err="1"/>
              <a:t>nuove</a:t>
            </a:r>
            <a:r>
              <a:rPr lang="en-US" dirty="0"/>
              <a:t> </a:t>
            </a:r>
            <a:r>
              <a:rPr lang="en-US" dirty="0" err="1"/>
              <a:t>dimensioni</a:t>
            </a:r>
            <a:r>
              <a:rPr lang="en-US" dirty="0"/>
              <a:t> a </a:t>
            </a:r>
            <a:r>
              <a:rPr lang="en-US" dirty="0" err="1"/>
              <a:t>partire</a:t>
            </a:r>
            <a:r>
              <a:rPr lang="en-US" dirty="0"/>
              <a:t> da quelle </a:t>
            </a:r>
            <a:r>
              <a:rPr lang="en-US" dirty="0" err="1"/>
              <a:t>originali</a:t>
            </a:r>
            <a:r>
              <a:rPr lang="en-US" dirty="0"/>
              <a:t>. </a:t>
            </a:r>
          </a:p>
          <a:p>
            <a:r>
              <a:rPr lang="en-US" dirty="0"/>
              <a:t>Il punto </a:t>
            </a:r>
            <a:r>
              <a:rPr lang="en-US" dirty="0" err="1"/>
              <a:t>chiave</a:t>
            </a:r>
            <a:r>
              <a:rPr lang="en-US" dirty="0"/>
              <a:t> è </a:t>
            </a:r>
            <a:r>
              <a:rPr lang="en-US" dirty="0" err="1"/>
              <a:t>che</a:t>
            </a:r>
            <a:r>
              <a:rPr lang="en-US" dirty="0"/>
              <a:t> ogni </a:t>
            </a:r>
            <a:r>
              <a:rPr lang="en-US" dirty="0" err="1"/>
              <a:t>nuova</a:t>
            </a:r>
            <a:r>
              <a:rPr lang="en-US" dirty="0"/>
              <a:t> </a:t>
            </a:r>
            <a:r>
              <a:rPr lang="en-US" dirty="0" err="1"/>
              <a:t>dimensione</a:t>
            </a:r>
            <a:r>
              <a:rPr lang="en-US" dirty="0"/>
              <a:t> è </a:t>
            </a:r>
            <a:r>
              <a:rPr lang="en-US" dirty="0" err="1"/>
              <a:t>rappresentata</a:t>
            </a:r>
            <a:r>
              <a:rPr lang="en-US" dirty="0"/>
              <a:t> da un </a:t>
            </a:r>
            <a:r>
              <a:rPr lang="en-US" dirty="0" err="1"/>
              <a:t>albero</a:t>
            </a:r>
            <a:r>
              <a:rPr lang="en-US" dirty="0"/>
              <a:t> di Genetic Programming </a:t>
            </a:r>
          </a:p>
          <a:p>
            <a:r>
              <a:rPr lang="en-US" dirty="0"/>
              <a:t>— e con dataset </a:t>
            </a:r>
            <a:r>
              <a:rPr lang="en-US" dirty="0" err="1"/>
              <a:t>moderni</a:t>
            </a:r>
            <a:r>
              <a:rPr lang="en-US" dirty="0"/>
              <a:t>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migliaia</a:t>
            </a:r>
            <a:r>
              <a:rPr lang="en-US" dirty="0"/>
              <a:t> di feature,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alberi</a:t>
            </a:r>
            <a:r>
              <a:rPr lang="en-US" dirty="0"/>
              <a:t> </a:t>
            </a:r>
            <a:r>
              <a:rPr lang="en-US" dirty="0" err="1"/>
              <a:t>diventano</a:t>
            </a:r>
            <a:r>
              <a:rPr lang="en-US" dirty="0"/>
              <a:t> </a:t>
            </a:r>
            <a:r>
              <a:rPr lang="en-US" dirty="0" err="1"/>
              <a:t>enormi</a:t>
            </a:r>
            <a:r>
              <a:rPr lang="en-US" dirty="0"/>
              <a:t> e di </a:t>
            </a:r>
            <a:r>
              <a:rPr lang="en-US" dirty="0" err="1"/>
              <a:t>fatto</a:t>
            </a:r>
            <a:r>
              <a:rPr lang="en-US" dirty="0"/>
              <a:t> </a:t>
            </a:r>
            <a:r>
              <a:rPr lang="en-US" dirty="0" err="1"/>
              <a:t>illeggibili</a:t>
            </a:r>
            <a:r>
              <a:rPr lang="en-US" dirty="0"/>
              <a:t> per un </a:t>
            </a:r>
            <a:r>
              <a:rPr lang="en-US" dirty="0" err="1"/>
              <a:t>utente</a:t>
            </a:r>
            <a:r>
              <a:rPr lang="en-US" dirty="0"/>
              <a:t> non </a:t>
            </a:r>
            <a:r>
              <a:rPr lang="en-US" dirty="0" err="1"/>
              <a:t>esperto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73313-C1C5-44DD-941F-C3F7BD831B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</a:t>
            </a:r>
            <a:r>
              <a:rPr lang="en-US" dirty="0" err="1"/>
              <a:t>nasce</a:t>
            </a:r>
            <a:r>
              <a:rPr lang="en-US" dirty="0"/>
              <a:t> </a:t>
            </a:r>
            <a:r>
              <a:rPr lang="en-US" dirty="0" err="1"/>
              <a:t>l'obiettivo</a:t>
            </a:r>
            <a:r>
              <a:rPr lang="en-US" dirty="0"/>
              <a:t> </a:t>
            </a:r>
            <a:r>
              <a:rPr lang="en-US" dirty="0" err="1"/>
              <a:t>dell'articolo</a:t>
            </a:r>
            <a:r>
              <a:rPr lang="en-US"/>
              <a:t>: </a:t>
            </a:r>
          </a:p>
          <a:p>
            <a:r>
              <a:rPr lang="en-US"/>
              <a:t>costruire</a:t>
            </a:r>
            <a:r>
              <a:rPr lang="en-US" dirty="0"/>
              <a:t> un </a:t>
            </a:r>
            <a:r>
              <a:rPr lang="en-US" dirty="0" err="1"/>
              <a:t>sistema</a:t>
            </a:r>
            <a:r>
              <a:rPr lang="en-US" dirty="0"/>
              <a:t> in </a:t>
            </a:r>
            <a:r>
              <a:rPr lang="en-US" dirty="0" err="1"/>
              <a:t>grado</a:t>
            </a:r>
            <a:r>
              <a:rPr lang="en-US" dirty="0"/>
              <a:t> di </a:t>
            </a:r>
            <a:r>
              <a:rPr lang="en-US" dirty="0" err="1"/>
              <a:t>spiegare</a:t>
            </a:r>
            <a:r>
              <a:rPr lang="en-US" dirty="0"/>
              <a:t>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risultati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un LLM.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scopi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: </a:t>
            </a:r>
            <a:r>
              <a:rPr lang="en-US" dirty="0" err="1"/>
              <a:t>aumentare</a:t>
            </a:r>
            <a:r>
              <a:rPr lang="en-US" dirty="0"/>
              <a:t> la fiducia </a:t>
            </a:r>
            <a:r>
              <a:rPr lang="en-US" dirty="0" err="1"/>
              <a:t>dell'utente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risultato</a:t>
            </a:r>
            <a:r>
              <a:rPr lang="en-US" dirty="0"/>
              <a:t>, </a:t>
            </a:r>
            <a:r>
              <a:rPr lang="en-US" dirty="0" err="1"/>
              <a:t>evitare</a:t>
            </a:r>
            <a:r>
              <a:rPr lang="en-US" dirty="0"/>
              <a:t>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chiamata</a:t>
            </a:r>
            <a:r>
              <a:rPr lang="en-US" dirty="0"/>
              <a:t> '</a:t>
            </a:r>
            <a:r>
              <a:rPr lang="en-US" dirty="0" err="1"/>
              <a:t>sindrome</a:t>
            </a:r>
            <a:r>
              <a:rPr lang="en-US" dirty="0"/>
              <a:t> della black-box' — </a:t>
            </a:r>
            <a:r>
              <a:rPr lang="en-US" dirty="0" err="1"/>
              <a:t>cioè</a:t>
            </a:r>
            <a:r>
              <a:rPr lang="en-US" dirty="0"/>
              <a:t> non </a:t>
            </a:r>
            <a:r>
              <a:rPr lang="en-US" dirty="0" err="1"/>
              <a:t>capire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il </a:t>
            </a:r>
            <a:r>
              <a:rPr lang="en-US" dirty="0" err="1"/>
              <a:t>sistema</a:t>
            </a:r>
            <a:r>
              <a:rPr lang="en-US" dirty="0"/>
              <a:t> ha </a:t>
            </a:r>
            <a:r>
              <a:rPr lang="en-US" dirty="0" err="1"/>
              <a:t>prodotto</a:t>
            </a:r>
            <a:r>
              <a:rPr lang="en-US" dirty="0"/>
              <a:t> un </a:t>
            </a:r>
            <a:r>
              <a:rPr lang="en-US" dirty="0" err="1"/>
              <a:t>certo</a:t>
            </a:r>
            <a:r>
              <a:rPr lang="en-US" dirty="0"/>
              <a:t> output — e </a:t>
            </a:r>
            <a:r>
              <a:rPr lang="en-US" dirty="0" err="1"/>
              <a:t>farlo</a:t>
            </a:r>
            <a:r>
              <a:rPr lang="en-US" dirty="0"/>
              <a:t> per </a:t>
            </a:r>
            <a:r>
              <a:rPr lang="en-US" dirty="0" err="1"/>
              <a:t>categorie</a:t>
            </a:r>
            <a:r>
              <a:rPr lang="en-US" dirty="0"/>
              <a:t> di </a:t>
            </a:r>
            <a:r>
              <a:rPr lang="en-US" dirty="0" err="1"/>
              <a:t>utenti</a:t>
            </a:r>
            <a:r>
              <a:rPr lang="en-US" dirty="0"/>
              <a:t> molto diverse </a:t>
            </a:r>
            <a:r>
              <a:rPr lang="en-US" dirty="0" err="1"/>
              <a:t>tra</a:t>
            </a:r>
            <a:r>
              <a:rPr lang="en-US" dirty="0"/>
              <a:t> loro, non solo </a:t>
            </a:r>
            <a:r>
              <a:rPr lang="en-US" dirty="0" err="1"/>
              <a:t>esperti</a:t>
            </a:r>
            <a:r>
              <a:rPr lang="en-US" dirty="0"/>
              <a:t> di 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73313-C1C5-44DD-941F-C3F7BD831B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3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630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585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42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44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027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6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7381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724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262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894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B6C51-A0BF-7644-9478-2EA41A2A65C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5C3B8-DC8E-EE44-94F4-FFF78C5FC3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532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59ED73-A864-0B49-8719-08957B89C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288086"/>
            <a:ext cx="7772400" cy="1882554"/>
          </a:xfrm>
        </p:spPr>
        <p:txBody>
          <a:bodyPr>
            <a:normAutofit/>
          </a:bodyPr>
          <a:lstStyle/>
          <a:p>
            <a:r>
              <a:rPr lang="it-IT" sz="32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SUMMARY OF </a:t>
            </a:r>
            <a:r>
              <a:rPr lang="en-US" sz="32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“EXPLAINING GENETIC PROGRAMMING TREES USING LARGE LANGUAGE MODELS”</a:t>
            </a:r>
            <a:br>
              <a:rPr lang="en-US" sz="32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</a:br>
            <a:r>
              <a:rPr lang="en-US" sz="1400" dirty="0"/>
              <a:t>Maddigan P., </a:t>
            </a:r>
            <a:r>
              <a:rPr lang="en-US" sz="1400" dirty="0" err="1"/>
              <a:t>Lensen</a:t>
            </a:r>
            <a:r>
              <a:rPr lang="en-US" sz="1400" dirty="0"/>
              <a:t> A., Xue B. (2024) – </a:t>
            </a:r>
            <a:br>
              <a:rPr lang="en-US" sz="1400" dirty="0"/>
            </a:br>
            <a:r>
              <a:rPr lang="en-US" sz="1400" dirty="0"/>
              <a:t>Explaining Genetic Programming Trees using Large Language Models. </a:t>
            </a:r>
            <a:r>
              <a:rPr lang="en-US" sz="1400" i="1" dirty="0"/>
              <a:t>arXiv:2403.03397 </a:t>
            </a:r>
            <a:endParaRPr lang="it-IT" sz="1400" b="1" i="1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9EB4343-7E31-0D4B-9D75-DFF8545BD6CC}"/>
              </a:ext>
            </a:extLst>
          </p:cNvPr>
          <p:cNvSpPr txBox="1"/>
          <p:nvPr/>
        </p:nvSpPr>
        <p:spPr>
          <a:xfrm>
            <a:off x="5336498" y="381659"/>
            <a:ext cx="3475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rgbClr val="0F013F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DIPARTIMENTO DI INGEGNERIA E ARCHITETTURA</a:t>
            </a:r>
          </a:p>
        </p:txBody>
      </p: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B466455D-8D3B-1544-8E4C-AD30396578B8}"/>
              </a:ext>
            </a:extLst>
          </p:cNvPr>
          <p:cNvCxnSpPr/>
          <p:nvPr/>
        </p:nvCxnSpPr>
        <p:spPr>
          <a:xfrm flipH="1">
            <a:off x="702495" y="3170640"/>
            <a:ext cx="773900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olo 1">
            <a:extLst>
              <a:ext uri="{FF2B5EF4-FFF2-40B4-BE49-F238E27FC236}">
                <a16:creationId xmlns:a16="http://schemas.microsoft.com/office/drawing/2014/main" id="{CF2724FD-A916-4841-B4E1-A4B2FDCE379F}"/>
              </a:ext>
            </a:extLst>
          </p:cNvPr>
          <p:cNvSpPr txBox="1">
            <a:spLocks/>
          </p:cNvSpPr>
          <p:nvPr/>
        </p:nvSpPr>
        <p:spPr>
          <a:xfrm>
            <a:off x="635713" y="3970196"/>
            <a:ext cx="3919591" cy="12820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200" dirty="0">
                <a:solidFill>
                  <a:srgbClr val="0F013F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Studente: </a:t>
            </a:r>
          </a:p>
          <a:p>
            <a:r>
              <a:rPr lang="it-IT" sz="2200" dirty="0">
                <a:solidFill>
                  <a:srgbClr val="0F013F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Marco Civran</a:t>
            </a:r>
          </a:p>
          <a:p>
            <a:r>
              <a:rPr lang="it-IT" sz="2200" dirty="0">
                <a:solidFill>
                  <a:srgbClr val="0F013F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IN0501392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6B06687-314B-4943-8EEE-4F111435A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09" y="300251"/>
            <a:ext cx="2494828" cy="839925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3A001D50-648D-2E41-9E0C-C6673976AE8D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F4B9798-D93A-51BA-1CE5-5489519D18CE}"/>
              </a:ext>
            </a:extLst>
          </p:cNvPr>
          <p:cNvSpPr txBox="1">
            <a:spLocks/>
          </p:cNvSpPr>
          <p:nvPr/>
        </p:nvSpPr>
        <p:spPr>
          <a:xfrm>
            <a:off x="4588696" y="3738035"/>
            <a:ext cx="3919591" cy="12220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200" dirty="0">
                <a:solidFill>
                  <a:srgbClr val="0F013F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Relatore: </a:t>
            </a:r>
          </a:p>
          <a:p>
            <a:r>
              <a:rPr lang="it-IT" sz="2200" dirty="0">
                <a:solidFill>
                  <a:srgbClr val="0F013F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Prof. Eric </a:t>
            </a:r>
            <a:r>
              <a:rPr lang="it-IT" sz="2200" dirty="0" err="1">
                <a:solidFill>
                  <a:srgbClr val="0F013F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Medvet</a:t>
            </a:r>
            <a:endParaRPr lang="it-IT" sz="2200" dirty="0">
              <a:solidFill>
                <a:srgbClr val="0F013F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51304-3897-FAED-EAD4-102B89CA513E}"/>
              </a:ext>
            </a:extLst>
          </p:cNvPr>
          <p:cNvSpPr txBox="1"/>
          <p:nvPr/>
        </p:nvSpPr>
        <p:spPr>
          <a:xfrm>
            <a:off x="669104" y="5722906"/>
            <a:ext cx="780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Anno </a:t>
            </a:r>
            <a:r>
              <a:rPr lang="en-US" dirty="0" err="1"/>
              <a:t>Accademico</a:t>
            </a:r>
            <a:r>
              <a:rPr lang="en-US" dirty="0"/>
              <a:t> 2025 –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60628-B0D6-0AAD-646A-DAECCB77EF79}"/>
              </a:ext>
            </a:extLst>
          </p:cNvPr>
          <p:cNvSpPr txBox="1"/>
          <p:nvPr/>
        </p:nvSpPr>
        <p:spPr>
          <a:xfrm>
            <a:off x="685800" y="3290341"/>
            <a:ext cx="773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LAUREA TRIENNALE IN INGEGNERIA ELETTRONICA E INFORMATICA</a:t>
            </a:r>
          </a:p>
        </p:txBody>
      </p:sp>
    </p:spTree>
    <p:extLst>
      <p:ext uri="{BB962C8B-B14F-4D97-AF65-F5344CB8AC3E}">
        <p14:creationId xmlns:p14="http://schemas.microsoft.com/office/powerpoint/2010/main" val="422137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98B593C6-F695-FE46-B7B3-43A49461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GP-NLDR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864C84D-FD79-4B42-B487-B13AE5E5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29" y="1760199"/>
            <a:ext cx="8373469" cy="1565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Processo di riduzione del numero di dimensioni di un dataset</a:t>
            </a:r>
          </a:p>
          <a:p>
            <a:pPr marL="0" indent="0" algn="ctr">
              <a:buNone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Ogni nuova dimensione = albero GP </a:t>
            </a:r>
          </a:p>
          <a:p>
            <a:pPr marL="0" indent="0" algn="ctr">
              <a:buNone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⚠️</a:t>
            </a:r>
            <a:r>
              <a:rPr lang="it-IT" sz="2400" i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può diventare complesso</a:t>
            </a: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479D80A-E9A2-154C-9696-4D414DB1E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7691F91C-4F4F-FE44-9FE6-1FB4290BF3EC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41EB8BEC-C073-D74E-8C4B-DC84B65CA3F0}"/>
              </a:ext>
            </a:extLst>
          </p:cNvPr>
          <p:cNvSpPr txBox="1">
            <a:spLocks/>
          </p:cNvSpPr>
          <p:nvPr/>
        </p:nvSpPr>
        <p:spPr>
          <a:xfrm>
            <a:off x="479129" y="1835453"/>
            <a:ext cx="8373469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88C20E3-B06D-C743-8E3D-AF7C0E729205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5A4DE-50F7-BCB0-6313-F0611E491A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296" r="29275" b="23632"/>
          <a:stretch>
            <a:fillRect/>
          </a:stretch>
        </p:blipFill>
        <p:spPr>
          <a:xfrm>
            <a:off x="400981" y="3071903"/>
            <a:ext cx="7952259" cy="28968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AA90F7-0227-214C-D1D0-BC652AEDC6B4}"/>
              </a:ext>
            </a:extLst>
          </p:cNvPr>
          <p:cNvSpPr txBox="1"/>
          <p:nvPr/>
        </p:nvSpPr>
        <p:spPr>
          <a:xfrm>
            <a:off x="3132734" y="6041160"/>
            <a:ext cx="2579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Fig.15 , Maddigan et al. 2024</a:t>
            </a:r>
          </a:p>
        </p:txBody>
      </p:sp>
    </p:spTree>
    <p:extLst>
      <p:ext uri="{BB962C8B-B14F-4D97-AF65-F5344CB8AC3E}">
        <p14:creationId xmlns:p14="http://schemas.microsoft.com/office/powerpoint/2010/main" val="309736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2A92-D08D-CE12-2F20-E2E489CD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6F14F4B9-18CA-4D01-E2DF-8B3E40E1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XAI per GP-NLDR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8E01D67-3A8A-1A41-4DDD-78DC99A8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29" y="1760198"/>
            <a:ext cx="7886699" cy="47869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24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Obiettivo: </a:t>
            </a: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Sistema in grado di </a:t>
            </a:r>
            <a:r>
              <a:rPr lang="en-US" sz="2400" dirty="0" err="1"/>
              <a:t>spiegare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risultati</a:t>
            </a:r>
            <a:r>
              <a:rPr lang="en-US" sz="2400" dirty="0"/>
              <a:t> di GP-NLDR </a:t>
            </a:r>
            <a:r>
              <a:rPr lang="en-US" sz="2400" dirty="0" err="1"/>
              <a:t>attraverso</a:t>
            </a:r>
            <a:r>
              <a:rPr lang="en-US" sz="2400" dirty="0"/>
              <a:t> LLM</a:t>
            </a: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Obiettivi del sistema:</a:t>
            </a:r>
          </a:p>
          <a:p>
            <a:pPr lvl="1">
              <a:lnSpc>
                <a:spcPct val="150000"/>
              </a:lnSpc>
            </a:pPr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Fiducia nel risultato</a:t>
            </a:r>
          </a:p>
          <a:p>
            <a:pPr lvl="1">
              <a:lnSpc>
                <a:spcPct val="150000"/>
              </a:lnSpc>
            </a:pPr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Evitare Sindrome di Black Box</a:t>
            </a:r>
          </a:p>
          <a:p>
            <a:pPr lvl="1">
              <a:lnSpc>
                <a:spcPct val="150000"/>
              </a:lnSpc>
            </a:pPr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Diversi tipi di end-user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4A79DC8-7CBD-4589-BFAA-FE26387B1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4A0DA97-313F-3D89-B27F-D83339D2BCC9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D68EA96A-8E5C-7AA9-42D7-B61DDA756DB2}"/>
              </a:ext>
            </a:extLst>
          </p:cNvPr>
          <p:cNvSpPr txBox="1">
            <a:spLocks/>
          </p:cNvSpPr>
          <p:nvPr/>
        </p:nvSpPr>
        <p:spPr>
          <a:xfrm>
            <a:off x="479129" y="1835453"/>
            <a:ext cx="8373469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481D2D8-A501-43E2-4CE7-13030C30624A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68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7530-EC50-0820-AF0F-BCB11B4E1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983557C2-913E-496B-87F5-A4118F82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Perché usare LLM?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EDB00B95-419C-7782-711D-D5138152A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30" y="1760198"/>
            <a:ext cx="5531614" cy="47869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Linguaggio naturale</a:t>
            </a:r>
          </a:p>
          <a:p>
            <a:pPr>
              <a:lnSpc>
                <a:spcPct val="150000"/>
              </a:lnSpc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Multilinguismo</a:t>
            </a:r>
          </a:p>
          <a:p>
            <a:pPr>
              <a:lnSpc>
                <a:spcPct val="150000"/>
              </a:lnSpc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Adattabilità basata sul prompt</a:t>
            </a:r>
          </a:p>
          <a:p>
            <a:pPr marL="0" indent="0">
              <a:buNone/>
            </a:pP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Risolve il problema di dover spiegare a utenti diversi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6B965A8-6D2E-6903-0171-07A32F345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EB474FC-CACE-9765-506D-DAB6854BC665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0DF31008-051A-60AA-1D5A-437EBA13A95F}"/>
              </a:ext>
            </a:extLst>
          </p:cNvPr>
          <p:cNvSpPr txBox="1">
            <a:spLocks/>
          </p:cNvSpPr>
          <p:nvPr/>
        </p:nvSpPr>
        <p:spPr>
          <a:xfrm>
            <a:off x="479129" y="1835453"/>
            <a:ext cx="8373469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FED5726-EB87-D57E-04A4-C0861A001CDF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BE9E06-C071-4FE5-0BB6-00C4C8AEE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743" y="1760198"/>
            <a:ext cx="1739172" cy="424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1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7A5D-9468-FFC7-3ACD-AB179448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5949470A-19B0-201F-4B55-AEF43D58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GP4NLDR (come funziona il sistema)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FCA3D62-F75A-0259-9E50-7B623B542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1464" y="1835453"/>
            <a:ext cx="7062030" cy="58930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8ED105B-6942-5F8A-C36C-1CAC05C11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D4CA00F6-F9A3-4C78-97CD-6155AE8CFF44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161A508B-E0F9-90F6-993D-7EDEDA2606DF}"/>
              </a:ext>
            </a:extLst>
          </p:cNvPr>
          <p:cNvSpPr txBox="1">
            <a:spLocks/>
          </p:cNvSpPr>
          <p:nvPr/>
        </p:nvSpPr>
        <p:spPr>
          <a:xfrm>
            <a:off x="359765" y="1835453"/>
            <a:ext cx="8492834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210F22C-17D8-7246-03CC-15E102E65949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E484C-A422-39EA-7508-641CFEBC3F37}"/>
              </a:ext>
            </a:extLst>
          </p:cNvPr>
          <p:cNvSpPr txBox="1"/>
          <p:nvPr/>
        </p:nvSpPr>
        <p:spPr>
          <a:xfrm>
            <a:off x="4572000" y="2777815"/>
            <a:ext cx="39878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 err="1"/>
              <a:t>Informazioni</a:t>
            </a:r>
            <a:r>
              <a:rPr lang="en-US" sz="2000" dirty="0"/>
              <a:t> </a:t>
            </a:r>
            <a:r>
              <a:rPr lang="en-US" sz="2000" dirty="0" err="1"/>
              <a:t>fornite</a:t>
            </a:r>
            <a:r>
              <a:rPr lang="en-US" sz="2000" dirty="0"/>
              <a:t> al chatbot: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Dataset</a:t>
            </a:r>
          </a:p>
          <a:p>
            <a:pPr marL="285750" indent="-285750">
              <a:buFontTx/>
              <a:buChar char="-"/>
            </a:pPr>
            <a:r>
              <a:rPr lang="en-US" sz="2000" dirty="0" err="1"/>
              <a:t>Parametri</a:t>
            </a:r>
            <a:r>
              <a:rPr lang="en-US" sz="2000" dirty="0"/>
              <a:t> GP-NLDR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Features </a:t>
            </a:r>
            <a:r>
              <a:rPr lang="en-US" sz="2000" dirty="0" err="1"/>
              <a:t>presenti</a:t>
            </a:r>
            <a:r>
              <a:rPr lang="en-US" sz="2000" dirty="0"/>
              <a:t> </a:t>
            </a:r>
            <a:r>
              <a:rPr lang="en-US" sz="2000" dirty="0" err="1"/>
              <a:t>negli</a:t>
            </a:r>
            <a:r>
              <a:rPr lang="en-US" sz="2000" dirty="0"/>
              <a:t> </a:t>
            </a:r>
            <a:r>
              <a:rPr lang="en-US" sz="2000" dirty="0" err="1"/>
              <a:t>alberi</a:t>
            </a:r>
            <a:r>
              <a:rPr lang="en-US" sz="2000" dirty="0"/>
              <a:t> GP</a:t>
            </a:r>
          </a:p>
          <a:p>
            <a:pPr marL="285750" indent="-285750">
              <a:buFontTx/>
              <a:buChar char="-"/>
            </a:pPr>
            <a:r>
              <a:rPr lang="en-US" sz="2000" dirty="0" err="1"/>
              <a:t>Qualità</a:t>
            </a:r>
            <a:r>
              <a:rPr lang="en-US" sz="2000" dirty="0"/>
              <a:t> del </a:t>
            </a:r>
            <a:r>
              <a:rPr lang="en-US" sz="2000" dirty="0" err="1"/>
              <a:t>risultato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D0AE0-41BF-5477-9019-1ADFEA163A84}"/>
              </a:ext>
            </a:extLst>
          </p:cNvPr>
          <p:cNvSpPr txBox="1"/>
          <p:nvPr/>
        </p:nvSpPr>
        <p:spPr>
          <a:xfrm>
            <a:off x="584166" y="2777815"/>
            <a:ext cx="39878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 err="1"/>
              <a:t>Parametri</a:t>
            </a:r>
            <a:r>
              <a:rPr lang="en-US" sz="2000" dirty="0"/>
              <a:t> di GP-NLDR: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Dataset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N. </a:t>
            </a:r>
            <a:r>
              <a:rPr lang="en-US" sz="2000" dirty="0" err="1"/>
              <a:t>figli</a:t>
            </a:r>
            <a:r>
              <a:rPr lang="en-US" sz="2000" dirty="0"/>
              <a:t> per </a:t>
            </a:r>
            <a:r>
              <a:rPr lang="en-US" sz="2000" dirty="0" err="1"/>
              <a:t>generazione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N. di </a:t>
            </a:r>
            <a:r>
              <a:rPr lang="en-US" sz="2000" dirty="0" err="1"/>
              <a:t>generazioni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 err="1"/>
              <a:t>Dimensione</a:t>
            </a:r>
            <a:r>
              <a:rPr lang="en-US" sz="2000" dirty="0"/>
              <a:t> finale</a:t>
            </a:r>
          </a:p>
          <a:p>
            <a:pPr marL="285750" indent="-285750">
              <a:buFontTx/>
              <a:buChar char="-"/>
            </a:pPr>
            <a:r>
              <a:rPr lang="en-US" sz="2000" dirty="0" err="1"/>
              <a:t>Funzione</a:t>
            </a:r>
            <a:r>
              <a:rPr lang="en-US" sz="2000" dirty="0"/>
              <a:t> di fitness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Bloat control</a:t>
            </a:r>
          </a:p>
        </p:txBody>
      </p:sp>
    </p:spTree>
    <p:extLst>
      <p:ext uri="{BB962C8B-B14F-4D97-AF65-F5344CB8AC3E}">
        <p14:creationId xmlns:p14="http://schemas.microsoft.com/office/powerpoint/2010/main" val="25230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CEBE-D225-4B70-11FD-D8460654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50FF6AD2-E80B-5DFF-3564-4D5725AF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Prompt + RAG = ridurre le allucinazioni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C9BC2D6-0D40-1756-CBA0-5D0B13CC0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29" y="1760198"/>
            <a:ext cx="8373469" cy="4786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Prompt engineering </a:t>
            </a: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Contesto del dataset</a:t>
            </a:r>
          </a:p>
          <a:p>
            <a:pPr>
              <a:buFontTx/>
              <a:buChar char="-"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Limite lunghezza risposta</a:t>
            </a:r>
          </a:p>
          <a:p>
            <a:pPr>
              <a:buFontTx/>
              <a:buChar char="-"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Comportamento del chatbot</a:t>
            </a:r>
          </a:p>
          <a:p>
            <a:pPr>
              <a:buFontTx/>
              <a:buChar char="-"/>
            </a:pP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it-IT" sz="24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RAG</a:t>
            </a:r>
          </a:p>
          <a:p>
            <a:pPr marL="0" indent="0">
              <a:buNone/>
            </a:pP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Informazioni mancanti da articoli specifici</a:t>
            </a:r>
          </a:p>
          <a:p>
            <a:pPr>
              <a:buFontTx/>
              <a:buChar char="-"/>
            </a:pP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EE42573-E3A0-041B-26A8-DD43A026A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D939315-8B04-2B13-CFA9-D7AAE9853DCF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B4AD89D-D4DB-0F84-A25A-53DEFF74D640}"/>
              </a:ext>
            </a:extLst>
          </p:cNvPr>
          <p:cNvSpPr txBox="1">
            <a:spLocks/>
          </p:cNvSpPr>
          <p:nvPr/>
        </p:nvSpPr>
        <p:spPr>
          <a:xfrm>
            <a:off x="479129" y="1835453"/>
            <a:ext cx="8373469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6DF3748-F49C-001F-CF57-E74020FC4D87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1F413-9FB8-7489-3FD0-AB1026351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760" y="3639909"/>
            <a:ext cx="5808689" cy="129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9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D5A58-D6B9-ACDB-F4E8-00C51C23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CA2F6F10-97F1-2424-8D34-27CFA7DF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Dataset di test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BFBB8EB-05C1-C6F1-C926-FBA38485A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386576"/>
              </p:ext>
            </p:extLst>
          </p:nvPr>
        </p:nvGraphicFramePr>
        <p:xfrm>
          <a:off x="628650" y="1825625"/>
          <a:ext cx="773718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924">
                  <a:extLst>
                    <a:ext uri="{9D8B030D-6E8A-4147-A177-3AD203B41FA5}">
                      <a16:colId xmlns:a16="http://schemas.microsoft.com/office/drawing/2014/main" val="4175151907"/>
                    </a:ext>
                  </a:extLst>
                </a:gridCol>
                <a:gridCol w="1761344">
                  <a:extLst>
                    <a:ext uri="{9D8B030D-6E8A-4147-A177-3AD203B41FA5}">
                      <a16:colId xmlns:a16="http://schemas.microsoft.com/office/drawing/2014/main" val="2402294893"/>
                    </a:ext>
                  </a:extLst>
                </a:gridCol>
                <a:gridCol w="4430912">
                  <a:extLst>
                    <a:ext uri="{9D8B030D-6E8A-4147-A177-3AD203B41FA5}">
                      <a16:colId xmlns:a16="http://schemas.microsoft.com/office/drawing/2014/main" val="268768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Caratteristiche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Domande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fatte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45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 features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/>
                        <a:t>2 </a:t>
                      </a:r>
                      <a:r>
                        <a:rPr lang="en-US" dirty="0" err="1"/>
                        <a:t>dimensioni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Dettagli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elementi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specifici</a:t>
                      </a:r>
                      <a:r>
                        <a:rPr lang="en-US" dirty="0"/>
                        <a:t> del </a:t>
                      </a:r>
                      <a:r>
                        <a:rPr lang="en-US" dirty="0" err="1"/>
                        <a:t>dominio</a:t>
                      </a:r>
                      <a:endParaRPr lang="en-US" dirty="0"/>
                    </a:p>
                    <a:p>
                      <a:r>
                        <a:rPr lang="en-US" dirty="0" err="1"/>
                        <a:t>Spiegazione</a:t>
                      </a:r>
                      <a:r>
                        <a:rPr lang="en-US" dirty="0"/>
                        <a:t> delle </a:t>
                      </a:r>
                      <a:r>
                        <a:rPr lang="en-US" dirty="0" err="1"/>
                        <a:t>singole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dimensioni</a:t>
                      </a:r>
                      <a:endParaRPr lang="en-US" dirty="0"/>
                    </a:p>
                    <a:p>
                      <a:r>
                        <a:rPr lang="en-US" dirty="0" err="1"/>
                        <a:t>Domanda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soggettiva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risultato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919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Dermatologia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 features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3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dimensioni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Utilizzo</a:t>
                      </a:r>
                      <a:r>
                        <a:rPr lang="en-US" dirty="0"/>
                        <a:t> termini </a:t>
                      </a:r>
                      <a:r>
                        <a:rPr lang="en-US" dirty="0" err="1"/>
                        <a:t>diversi</a:t>
                      </a:r>
                      <a:r>
                        <a:rPr lang="en-US" dirty="0"/>
                        <a:t> dal dataset</a:t>
                      </a:r>
                    </a:p>
                    <a:p>
                      <a:r>
                        <a:rPr lang="en-US" dirty="0" err="1"/>
                        <a:t>Domande</a:t>
                      </a:r>
                      <a:r>
                        <a:rPr lang="en-US" dirty="0"/>
                        <a:t> cui non </a:t>
                      </a:r>
                      <a:r>
                        <a:rPr lang="en-US" dirty="0" err="1"/>
                        <a:t>conosce</a:t>
                      </a:r>
                      <a:r>
                        <a:rPr lang="en-US" dirty="0"/>
                        <a:t> la </a:t>
                      </a:r>
                      <a:r>
                        <a:rPr lang="en-US" dirty="0" err="1"/>
                        <a:t>risposta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772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Immagini</a:t>
                      </a:r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/>
                        <a:t>(COIL-20)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1024 features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2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dimensioni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Comprensione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nomi</a:t>
                      </a:r>
                      <a:r>
                        <a:rPr lang="en-US" dirty="0"/>
                        <a:t> non </a:t>
                      </a:r>
                      <a:r>
                        <a:rPr lang="en-US" dirty="0" err="1"/>
                        <a:t>descrittivi</a:t>
                      </a:r>
                      <a:endParaRPr lang="en-US" dirty="0"/>
                    </a:p>
                    <a:p>
                      <a:r>
                        <a:rPr lang="en-US" dirty="0" err="1"/>
                        <a:t>Multilinguismo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226310"/>
                  </a:ext>
                </a:extLst>
              </a:tr>
            </a:tbl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A3218F3E-2103-9969-3AB1-7FF174C39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275B17C5-3EB4-F961-2F43-DDF6A4606BAB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7461192E-1D23-3952-56F4-324006A6FAB6}"/>
              </a:ext>
            </a:extLst>
          </p:cNvPr>
          <p:cNvSpPr txBox="1">
            <a:spLocks/>
          </p:cNvSpPr>
          <p:nvPr/>
        </p:nvSpPr>
        <p:spPr>
          <a:xfrm>
            <a:off x="479129" y="1835453"/>
            <a:ext cx="8373469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ADE9F3E-AE7B-4619-3BC0-1EF0606BF7C0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D9641-8B56-5F03-25FA-2D63F051B6CA}"/>
              </a:ext>
            </a:extLst>
          </p:cNvPr>
          <p:cNvSpPr txBox="1"/>
          <p:nvPr/>
        </p:nvSpPr>
        <p:spPr>
          <a:xfrm>
            <a:off x="2248800" y="4707933"/>
            <a:ext cx="4646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Diverse </a:t>
            </a:r>
            <a:r>
              <a:rPr lang="en-US" dirty="0" err="1"/>
              <a:t>variazioni</a:t>
            </a:r>
            <a:r>
              <a:rPr lang="en-US" dirty="0"/>
              <a:t> di </a:t>
            </a:r>
            <a:r>
              <a:rPr lang="en-US" dirty="0" err="1"/>
              <a:t>accuratezza</a:t>
            </a:r>
            <a:r>
              <a:rPr lang="en-US" dirty="0"/>
              <a:t> della </a:t>
            </a:r>
            <a:r>
              <a:rPr lang="en-US" dirty="0" err="1"/>
              <a:t>soluzione</a:t>
            </a:r>
            <a:endParaRPr lang="en-US" dirty="0"/>
          </a:p>
          <a:p>
            <a:pPr algn="ctr"/>
            <a:r>
              <a:rPr lang="en-US" dirty="0"/>
              <a:t>0.9833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0.9333 	|	0.9868 </a:t>
            </a:r>
            <a:r>
              <a:rPr lang="en-US" dirty="0">
                <a:sym typeface="Wingdings" panose="05000000000000000000" pitchFamily="2" charset="2"/>
              </a:rPr>
              <a:t> 0.</a:t>
            </a:r>
            <a:r>
              <a:rPr lang="en-US" dirty="0"/>
              <a:t>6375</a:t>
            </a:r>
          </a:p>
        </p:txBody>
      </p:sp>
    </p:spTree>
    <p:extLst>
      <p:ext uri="{BB962C8B-B14F-4D97-AF65-F5344CB8AC3E}">
        <p14:creationId xmlns:p14="http://schemas.microsoft.com/office/powerpoint/2010/main" val="417163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16CF6-F859-4C9B-3096-76AF4882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A6C3A008-95E8-9EE5-5DE1-01C097B6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Punti di Forza e Limitazioni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8874AF8A-C4F0-DD81-E10C-54891D848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29" y="1760198"/>
            <a:ext cx="8373469" cy="4786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Punti di forza: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Accessibilità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Linguaggio naturale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Riduzione allucinazioni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Analizzare alberi GP</a:t>
            </a:r>
          </a:p>
          <a:p>
            <a:pPr marL="0" indent="0">
              <a:buNone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Limitazioni: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Risposte proporzionate al contesto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Rischi alla privacy dei dati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Dipendenza dalla qualità del prompt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7306BBF-CF0C-9CA3-F7E4-4D832D477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E4E3548-96B8-5886-E9A0-9CCC8317B28D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09B4FC40-0125-A0A7-BB6F-3C9F3B1799F2}"/>
              </a:ext>
            </a:extLst>
          </p:cNvPr>
          <p:cNvSpPr txBox="1">
            <a:spLocks/>
          </p:cNvSpPr>
          <p:nvPr/>
        </p:nvSpPr>
        <p:spPr>
          <a:xfrm>
            <a:off x="479129" y="1835453"/>
            <a:ext cx="8373469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F104151-B237-48CA-678A-5DDA56F8BDC8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24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98B593C6-F695-FE46-B7B3-43A49461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29" y="1106008"/>
            <a:ext cx="7886700" cy="487792"/>
          </a:xfrm>
        </p:spPr>
        <p:txBody>
          <a:bodyPr>
            <a:noAutofit/>
          </a:bodyPr>
          <a:lstStyle/>
          <a:p>
            <a:r>
              <a:rPr lang="it-IT" sz="28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Conclusioni e </a:t>
            </a:r>
            <a:r>
              <a:rPr lang="it-IT" sz="280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sviluppi futuri</a:t>
            </a:r>
            <a:endParaRPr lang="it-IT" sz="28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864C84D-FD79-4B42-B487-B13AE5E5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29" y="1760198"/>
            <a:ext cx="8373469" cy="4786913"/>
          </a:xfrm>
        </p:spPr>
        <p:txBody>
          <a:bodyPr>
            <a:normAutofit/>
          </a:bodyPr>
          <a:lstStyle/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GP4NLDR combina GP-NLDR + LLM + RAG per spiegare gli alberi GP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Linguaggio naturale offre soluzioni comprensibili</a:t>
            </a:r>
          </a:p>
          <a:p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Restano ancora limitazioni </a:t>
            </a:r>
          </a:p>
          <a:p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it-IT" sz="24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Sviluppi futuri</a:t>
            </a:r>
            <a:endParaRPr lang="it-IT" sz="240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Prompt dinamici</a:t>
            </a:r>
          </a:p>
          <a:p>
            <a:pPr>
              <a:buFontTx/>
              <a:buChar char="-"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LLM con garanzie di privacy</a:t>
            </a:r>
          </a:p>
          <a:p>
            <a:pPr>
              <a:buFontTx/>
              <a:buChar char="-"/>
            </a:pPr>
            <a:r>
              <a:rPr lang="it-IT" sz="240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Valutazione con utenti reali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479D80A-E9A2-154C-9696-4D414DB1E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70" y="310883"/>
            <a:ext cx="1867507" cy="62872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7691F91C-4F4F-FE44-9FE6-1FB4290BF3EC}"/>
              </a:ext>
            </a:extLst>
          </p:cNvPr>
          <p:cNvCxnSpPr>
            <a:cxnSpLocks/>
          </p:cNvCxnSpPr>
          <p:nvPr/>
        </p:nvCxnSpPr>
        <p:spPr>
          <a:xfrm flipH="1">
            <a:off x="584289" y="1518544"/>
            <a:ext cx="7781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41EB8BEC-C073-D74E-8C4B-DC84B65CA3F0}"/>
              </a:ext>
            </a:extLst>
          </p:cNvPr>
          <p:cNvSpPr txBox="1">
            <a:spLocks/>
          </p:cNvSpPr>
          <p:nvPr/>
        </p:nvSpPr>
        <p:spPr>
          <a:xfrm>
            <a:off x="479129" y="1835453"/>
            <a:ext cx="8373469" cy="4786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88C20E3-B06D-C743-8E3D-AF7C0E729205}"/>
              </a:ext>
            </a:extLst>
          </p:cNvPr>
          <p:cNvSpPr/>
          <p:nvPr/>
        </p:nvSpPr>
        <p:spPr>
          <a:xfrm>
            <a:off x="-105103" y="6547117"/>
            <a:ext cx="9375227" cy="410731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736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888</TotalTime>
  <Words>562</Words>
  <Application>Microsoft Office PowerPoint</Application>
  <PresentationFormat>On-screen Show (4:3)</PresentationFormat>
  <Paragraphs>106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Open Sans</vt:lpstr>
      <vt:lpstr>Wingdings</vt:lpstr>
      <vt:lpstr>Tema di Office</vt:lpstr>
      <vt:lpstr>SUMMARY OF “EXPLAINING GENETIC PROGRAMMING TREES USING LARGE LANGUAGE MODELS” Maddigan P., Lensen A., Xue B. (2024) –  Explaining Genetic Programming Trees using Large Language Models. arXiv:2403.03397 </vt:lpstr>
      <vt:lpstr>GP-NLDR</vt:lpstr>
      <vt:lpstr>XAI per GP-NLDR</vt:lpstr>
      <vt:lpstr>Perché usare LLM?</vt:lpstr>
      <vt:lpstr>GP4NLDR (come funziona il sistema)</vt:lpstr>
      <vt:lpstr>Prompt + RAG = ridurre le allucinazioni</vt:lpstr>
      <vt:lpstr>Dataset di test</vt:lpstr>
      <vt:lpstr>Punti di Forza e Limitazioni</vt:lpstr>
      <vt:lpstr>Conclusioni e sviluppi futuri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of Explaining Genetic Programming Trees using Large Language Models</dc:title>
  <dc:creator>Lorenzo Raimondo De Vidovich</dc:creator>
  <cp:lastModifiedBy>CIVRAN MARCO [IN0501392]</cp:lastModifiedBy>
  <cp:revision>13</cp:revision>
  <dcterms:created xsi:type="dcterms:W3CDTF">2022-04-20T12:25:50Z</dcterms:created>
  <dcterms:modified xsi:type="dcterms:W3CDTF">2026-09-23T16:51:14Z</dcterms:modified>
</cp:coreProperties>
</file>